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FinAsis – Yatırımcı Sunumu v2 (TR)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Görünürlük + Öngörü + Otomasyon</a:t>
            </a:r>
          </a:p>
          <a:p>
            <a:r>
              <a:t>Geleceğin zenginliğini inşa eden finans katmanı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Özet (Elevator Pitch)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 b="0"/>
            </a:pPr>
            <a:r>
              <a:t>FinAsis: KOBİ ve ileri bireysel/küçük ekip yatırımcılara finansal verileri tekleştirip görünürlük + öngörü + otomasyon sağlayan çoklu-tenant SaaS.</a:t>
            </a:r>
          </a:p>
          <a:p>
            <a:pPr algn="l">
              <a:defRPr sz="1800" b="0"/>
            </a:pPr>
            <a:r>
              <a:t>Değer: Nakit akışı öngörüsü, gider analizi, anomali tespiti, kural motoru ile otomatik aksiyon; yerel (UBL‑TR/EDOC) uyumluluk.</a:t>
            </a:r>
          </a:p>
          <a:p>
            <a:pPr algn="l">
              <a:defRPr sz="1800" b="0"/>
            </a:pPr>
            <a:r>
              <a:t>İvme: Pilot/pipeline ≈15 hesap; rapor ekranları mevcut, PayTR sandbox çalışır. 5Y baz ARR hedefi ≈ $344K; brüt marj %83; Y3 payback ~7.9 ay.</a:t>
            </a:r>
          </a:p>
          <a:p>
            <a:pPr lvl="1" algn="l">
              <a:defRPr sz="1800" b="0"/>
            </a:pPr>
            <a:r>
              <a:t>Misyonumuz: Geçmişi arşivlemekten çok, geleceğin zenginliğini inşa etmek. FinAsis, yalnızca “kayıt” tutmaz; öngörü üretir, karar anlarında öneri sunar ve kurallar/AI ile aksiyonu otomatikleştirir. Müşterilerimizin “geleceği” için preskriptif (öneri üreten) bir finans katmanıyız.</a:t>
            </a:r>
          </a:p>
          <a:p>
            <a:pPr algn="l">
              <a:defRPr sz="1800" b="1"/>
            </a:pPr>
            <a:r>
              <a:t>1.1) Misyon &amp; Konumlandırma (Future‑Forward)</a:t>
            </a:r>
          </a:p>
          <a:p>
            <a:pPr algn="l">
              <a:defRPr sz="1800" b="0"/>
            </a:pPr>
            <a:r>
              <a:t>Kayıt değil, karar: Geçmişi raporlamak yerine ileriye dönük forecast, senaryo ve öneri.</a:t>
            </a:r>
          </a:p>
          <a:p>
            <a:pPr algn="l">
              <a:defRPr sz="1800" b="0"/>
            </a:pPr>
            <a:r>
              <a:t>Görünürlükten öte: Risk skorları, “ne yapmalı?” cevapları ve otomatik aksiyon (kural/AI).</a:t>
            </a:r>
          </a:p>
          <a:p>
            <a:pPr algn="l">
              <a:defRPr sz="1800" b="0"/>
            </a:pPr>
            <a:r>
              <a:t>Zenginlik inşası: Nakit akışı optimizasyonu, hatasız operasyon ve doğru zamanlı hamlelerle değer yaratımı.</a:t>
            </a:r>
          </a:p>
          <a:p>
            <a:pPr algn="l">
              <a:defRPr sz="1800" b="1"/>
            </a:pPr>
            <a:r>
              <a:t>1.2) Özet (Basit Anlatım)</a:t>
            </a:r>
          </a:p>
          <a:p>
            <a:pPr algn="l">
              <a:defRPr sz="1800" b="0"/>
            </a:pPr>
            <a:r>
              <a:t>FinAsis verileri tek ekranda toplar, geleceği tahmin eder, yapılacakları söyler ve uygulatır.</a:t>
            </a:r>
          </a:p>
          <a:p>
            <a:pPr algn="l">
              <a:defRPr sz="1800" b="0"/>
            </a:pPr>
            <a:r>
              <a:t>Zaman kazandırır, hataları azaltır, nakitte sürprizi bitirir.</a:t>
            </a:r>
          </a:p>
          <a:p>
            <a:pPr algn="l">
              <a:defRPr sz="1800" b="0"/>
            </a:pPr>
            <a:r>
              <a:t>Rapor değil, “karar ve aksiyon” üretir.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Problem → Çözüm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 b="0"/>
            </a:pPr>
            <a:r>
              <a:t>Problemler: Dağınık veri (banka, e‑fatura, POS, e‑ticaret, aracı kurum, kripto), geç görünürlük, zayıf forecast, yüksek denetim yükü, aksiyon üretmeyen BI, yerel uyum yükü.</a:t>
            </a:r>
          </a:p>
          <a:p>
            <a:pPr algn="l">
              <a:defRPr sz="1800" b="0"/>
            </a:pPr>
            <a:r>
              <a:t>FinAsis Çözümü: Tek panel + entegrasyonlar + kural/AI katmanı.</a:t>
            </a:r>
          </a:p>
          <a:p>
            <a:pPr lvl="1" algn="l">
              <a:defRPr sz="1800" b="0"/>
            </a:pPr>
            <a:r>
              <a:t>Önce: Excel ve manuel mutabakat → Sonra: Otomatik eşleştirme ve auto‑book önizleme.</a:t>
            </a:r>
          </a:p>
          <a:p>
            <a:pPr lvl="1" algn="l">
              <a:defRPr sz="1800" b="0"/>
            </a:pPr>
            <a:r>
              <a:t>Önce: Geriye dönük rapor → Sonra: Risk skoru, tahmin ve öneri API’leriyle proaktif uyarı.</a:t>
            </a:r>
          </a:p>
          <a:p>
            <a:pPr lvl="1" algn="l">
              <a:defRPr sz="1800" b="0"/>
            </a:pPr>
            <a:r>
              <a:t>Önce: Zor audit → Sonra: Audit‑ready log, export ve opsiyonel blockchain izleri.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Ürün ve Modüller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 b="0"/>
            </a:pPr>
            <a:r>
              <a:t>Accounting, Finance (raporlar), AI Assistant (risk/tahmin/öneri), Rule Engine, Education (FinEd), Games (FinGame), Blockchain entegrasyonu.</a:t>
            </a:r>
          </a:p>
          <a:p>
            <a:pPr algn="l">
              <a:defRPr sz="1800" b="0"/>
            </a:pPr>
            <a:r>
              <a:t>Özellikler: Çoklu dil (i18n), modern UI, audit‑ready loglama, EDOC/UBL‑TR entegrasyonları.</a:t>
            </a:r>
          </a:p>
          <a:p>
            <a:pPr algn="l">
              <a:defRPr sz="1800" b="0"/>
            </a:pPr>
            <a:r>
              <a:t>Demo akışı: Kayıt → Plan/Ödeme (PayTR sandbox) → Abonelik → Raporlar → AI/Auto‑book önizleme.</a:t>
            </a:r>
          </a:p>
          <a:p>
            <a:pPr algn="l">
              <a:defRPr sz="1800" b="1"/>
            </a:pPr>
            <a:r>
              <a:t>3.1) Mini Senaryo – 60 Saniye</a:t>
            </a:r>
          </a:p>
          <a:p>
            <a:pPr lvl="1" algn="l">
              <a:defRPr sz="1800" b="0"/>
            </a:pPr>
            <a:r>
              <a:t>Bugün hafta sonu nakit açığı ihtimali var. FinAsis bunu günler önceden görür ve “A, B müşterileri vadesinde; A’yı bugün ararsan açığı kapatıyorsun” diye önerir. Tek tıkla tahsilatı başlatırsın; panik yok, sürpriz yok.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4) Hedef Müşteri ve Pazar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 b="0"/>
            </a:pPr>
            <a:r>
              <a:t>ICP: 1–100 çalışan KOBİ’ler, ajanslar, e‑ticaret girişimleri; çok hesabı/kanalı olan ve denetim/rapor karmaşıklığı yaşayan ekipler.</a:t>
            </a:r>
          </a:p>
          <a:p>
            <a:pPr algn="l">
              <a:defRPr sz="1800" b="0"/>
            </a:pPr>
            <a:r>
              <a:t>Fırsat: Bölgesel KOBİ sayısı + dijitalleşme trendi → on binlerce hedeflenebilir müşteri.</a:t>
            </a:r>
          </a:p>
          <a:p>
            <a:pPr algn="l">
              <a:defRPr sz="1800" b="1"/>
            </a:pPr>
            <a:r>
              <a:t>4.1) Kimin için? (Basit)</a:t>
            </a:r>
          </a:p>
          <a:p>
            <a:pPr algn="l">
              <a:defRPr sz="1800" b="0"/>
            </a:pPr>
            <a:r>
              <a:t>KOBİ’ler, ajanslar, e‑ticaret işletmeleri.</a:t>
            </a:r>
          </a:p>
          <a:p>
            <a:pPr algn="l">
              <a:defRPr sz="1800" b="0"/>
            </a:pPr>
            <a:r>
              <a:t>“Kasada para var mı, ne zaman sıkışırız?” sorusunu net duymak isteyen yöneticiler.</a:t>
            </a:r>
          </a:p>
          <a:p>
            <a:pPr algn="l">
              <a:defRPr sz="1800" b="0"/>
            </a:pPr>
            <a:r>
              <a:t>“Bana ne yapacağımı söyleyen bir yardımcı olsun” diyen ekipler.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5) İş Modeli ve Fiyatlandırma (USD/ay)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 b="0"/>
            </a:pPr>
            <a:r>
              <a:t>SaaS abonelik: Core $29, Growth $59, Scale $129; Add‑on: API/Webhook +$39, Gelişmiş Rapor +$19; yıllık ödemede %15 indirim; seat upsell.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6) Traction (Bugün) ve Hedefler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 b="0"/>
            </a:pPr>
            <a:r>
              <a:t>Bugün: Pilot/pipeline ≈15 hesap; raporlar mevcut; PayTR sandbox akışı çalışır.</a:t>
            </a:r>
          </a:p>
          <a:p>
            <a:pPr algn="l">
              <a:defRPr sz="1800" b="0"/>
            </a:pPr>
            <a:r>
              <a:t>Hedef (Baz): Y1 57, Y2 115, Y3 174, Y4 248, Y5 333 müşteri; Y5 ARR ≈ $344K; Brüt marj %83; Y3 payback ~7.9 ay; LTV/CAC ~3.6x.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7) Rekabet ve Ayrışma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 b="0"/>
            </a:pPr>
            <a:r>
              <a:t>ERP muhasebe: güçlü süreçler ama ağır kurulum/entegrasyon; bizim avantaj: hafif kurulum + geniş entegrasyon + kural/AI ile aksiyon.</a:t>
            </a:r>
          </a:p>
          <a:p>
            <a:pPr algn="l">
              <a:defRPr sz="1800" b="0"/>
            </a:pPr>
            <a:r>
              <a:t>Tek‑özellikli araçlar: hızlı ama veri silo; biz: çok kaynaktan tek panel + rule engine + öneri.</a:t>
            </a:r>
          </a:p>
          <a:p>
            <a:pPr algn="l">
              <a:defRPr sz="1800" b="0"/>
            </a:pPr>
            <a:r>
              <a:t>Genel BI: görselleştirme var ama aksiyon yok; biz: muhasebe motoru + AI ile operasyonel aksiyon.</a:t>
            </a:r>
          </a:p>
          <a:p>
            <a:pPr algn="l">
              <a:defRPr sz="1800" b="0"/>
            </a:pPr>
            <a:r>
              <a:t>Ayrışma özet: Yerel uyum (UBL‑TR), rule engine → voucher, AI öneri ve risk, audit‑ready + opsiyonel blockchain; hızlı aktivasyon; sermaye verimi.</a:t>
            </a:r>
          </a:p>
          <a:p>
            <a:pPr algn="l">
              <a:defRPr sz="1800" b="1"/>
            </a:pPr>
            <a:r>
              <a:t>7.1) Mevcut Sistemlerden Farkımız (Basit)</a:t>
            </a:r>
          </a:p>
          <a:p>
            <a:pPr algn="l">
              <a:defRPr sz="1800" b="0"/>
            </a:pPr>
            <a:r>
              <a:t>ERP/Muhasebe: Geçmişi yazar. Biz: Geleceği planlarız ve aksiyona geçiririz.</a:t>
            </a:r>
          </a:p>
          <a:p>
            <a:pPr algn="l">
              <a:defRPr sz="1800" b="0"/>
            </a:pPr>
            <a:r>
              <a:t>BI raporlama: Grafiği gösterir. Biz: “Ne yapmalı?”yı söyler ve uygulatırız.</a:t>
            </a:r>
          </a:p>
          <a:p>
            <a:pPr algn="l">
              <a:defRPr sz="1800" b="0"/>
            </a:pPr>
            <a:r>
              <a:t>Tek özellikli araçlar: Parçayı çözer. Biz: Hepsini birleştirir, bütünü yönetiriz.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8) GTM (Go‑To‑Market)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 b="0"/>
            </a:pPr>
            <a:r>
              <a:t>Kanallar: İçerik &amp; SEO, partner/entegrasyon ekosistemi, kurucu‑led satış, topluluk/webinar; kontrollü paid.</a:t>
            </a:r>
          </a:p>
          <a:p>
            <a:pPr algn="l">
              <a:defRPr sz="1800" b="0"/>
            </a:pPr>
            <a:r>
              <a:t>Funnel hedefleri: Visit→Lead %3.5; Lead→Trial %40; Trial→Aktivasyon %55 (Y1) → %63 (Y3); Aktivasyon→Ücretli %60+.</a:t>
            </a:r>
          </a:p>
          <a:p>
            <a:pPr algn="l">
              <a:defRPr sz="1800" b="1"/>
            </a:pPr>
            <a:r>
              <a:t>8.1) Neden Şimdi?</a:t>
            </a:r>
          </a:p>
          <a:p>
            <a:pPr algn="l">
              <a:defRPr sz="1800" b="0"/>
            </a:pPr>
            <a:r>
              <a:t>Her şey dijital: e‑belge, çok kanal satış, online bankacılık.</a:t>
            </a:r>
          </a:p>
          <a:p>
            <a:pPr algn="l">
              <a:defRPr sz="1800" b="0"/>
            </a:pPr>
            <a:r>
              <a:t>Veri çok, zaman az: Özet + öngörü + öneri olmadan karar zor.</a:t>
            </a:r>
          </a:p>
          <a:p>
            <a:pPr algn="l">
              <a:defRPr sz="1800" b="0"/>
            </a:pPr>
            <a:r>
              <a:t>Yapay zeka olgunlaştı: Artık akıllı aksiyon mümkün.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9) Teknoloji ve Güvenlik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 b="0"/>
            </a:pPr>
            <a:r>
              <a:t>Backend: Django; i18n, event/audit log; EDOC/UBL‑TR doğrulama opsiyonu.</a:t>
            </a:r>
          </a:p>
          <a:p>
            <a:pPr algn="l">
              <a:defRPr sz="1800" b="0"/>
            </a:pPr>
            <a:r>
              <a:t>ML API’leri: risk skoru, forecast, öneri (JWT/Session); Swagger/Redoc.</a:t>
            </a:r>
          </a:p>
          <a:p>
            <a:pPr algn="l">
              <a:defRPr sz="1800" b="0"/>
            </a:pPr>
            <a:r>
              <a:t>Güvenlik: HMAC/IP doğrulamalı callback; temel CIS kontrolleri; dış inceleme planı.</a:t>
            </a:r>
          </a:p>
          <a:p>
            <a:pPr algn="l">
              <a:defRPr sz="1800" b="1"/>
            </a:pPr>
            <a:r>
              <a:t>9.1) Güvenlik &amp; Uyum (Kısaca)</a:t>
            </a:r>
          </a:p>
          <a:p>
            <a:pPr algn="l">
              <a:defRPr sz="1800" b="0"/>
            </a:pPr>
            <a:r>
              <a:t>Yerel standartlara uyum (UBL‑TR, e‑belge).</a:t>
            </a:r>
          </a:p>
          <a:p>
            <a:pPr algn="l">
              <a:defRPr sz="1800" b="0"/>
            </a:pPr>
            <a:r>
              <a:t>Tüm işlemler kayıt altına alınır (audit‑ready).</a:t>
            </a:r>
          </a:p>
          <a:p>
            <a:pPr algn="l">
              <a:defRPr sz="1800" b="0"/>
            </a:pPr>
            <a:r>
              <a:t>Gerekirse gelişmiş doğrulama ve güvenlik kontrolleri.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10) Yol Haritası (24 Ay)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 b="0"/>
            </a:pPr>
            <a:r>
              <a:t>0–3 Ay: 5→8 entegrasyon, anomaly MVP, 20 aktif pilot; Aktivasyon ≥ %45.</a:t>
            </a:r>
          </a:p>
          <a:p>
            <a:pPr algn="l">
              <a:defRPr sz="1800" b="0"/>
            </a:pPr>
            <a:r>
              <a:t>3–6 Ay: Rule engine v1, forecast iyileştirme; 40–45 müşteri; churn ≤ %5.2.</a:t>
            </a:r>
          </a:p>
          <a:p>
            <a:pPr algn="l">
              <a:defRPr sz="1800" b="0"/>
            </a:pPr>
            <a:r>
              <a:t>6–9 Ay: Add‑on API beta; 70 müşteri; ilk &gt;$5K MRR; NRR (3M) ≥ %95.</a:t>
            </a:r>
          </a:p>
          <a:p>
            <a:pPr algn="l">
              <a:defRPr sz="1800" b="0"/>
            </a:pPr>
            <a:r>
              <a:t>9–12 Ay: Anomaly precision &gt; %85, şablon galerisi; 90–100 müşteri; ARPA $50+.</a:t>
            </a:r>
          </a:p>
          <a:p>
            <a:pPr algn="l">
              <a:defRPr sz="1800" b="0"/>
            </a:pPr>
            <a:r>
              <a:t>12–24 Ay: API GA, advanced forecasting; 150→300 müşteri; NRR ≥ %108; Payback &lt;9 ay.</a:t>
            </a:r>
          </a:p>
          <a:p>
            <a:pPr lvl="1" algn="l">
              <a:defRPr sz="1800" b="0"/>
            </a:pPr>
            <a:r>
              <a:t>Not (vizyon): Bu yol haritası yalnızca kayıt/raporlamayı değil; “predictive (öngörü), prescriptive (öneri), proactive (aksiyon)” üçlüsünü ürünün kalbine yerleştirir.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11) Finansal Model Özet (Baz)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 b="0"/>
            </a:pPr>
            <a:r>
              <a:t>Yıl sonu müşteri: 57 → 333; ARR: $30K → $344K; Brüt marj: %70 → %83.</a:t>
            </a:r>
          </a:p>
          <a:p>
            <a:pPr algn="l">
              <a:defRPr sz="1800" b="0"/>
            </a:pPr>
            <a:r>
              <a:t>NRR hedef eğrisi: %90 → %116; LTV/CAC (Y3): ~3.6x; Payback (Y3): ~7.9 ay.</a:t>
            </a:r>
          </a:p>
          <a:p>
            <a:pPr algn="l">
              <a:defRPr sz="1800" b="0"/>
            </a:pPr>
            <a:r>
              <a:t>Not: Ayrıntılar 5_year_revenue_model.md ve scenario_sensitivity.md dosyalarında.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12) Birim Ekonomisi ve KPI’lar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 b="0"/>
            </a:pPr>
            <a:r>
              <a:t>İzlenen çekirdekler: ARPA, NRR, Churn, CAC, Payback, Gross Margin, Activation.</a:t>
            </a:r>
          </a:p>
          <a:p>
            <a:pPr algn="l">
              <a:defRPr sz="1800" b="0"/>
            </a:pPr>
            <a:r>
              <a:t>Hedefler: Y2 NRR ≥ %100; Y3 NRR ≥ %108; Y3 Payback &lt;9 ay; Y5 LTV/CAC ≥ 7.5x.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13) Ekip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 b="0"/>
            </a:pPr>
            <a:r>
              <a:t>Çekirdek: Kurucu (Tech/Product). Metric‑gated işe alım: Backend, Full‑stack, Data/ML, Growth, SDR, CSM, PM, QA, Compliance (fractional).</a:t>
            </a:r>
          </a:p>
          <a:p>
            <a:pPr algn="l">
              <a:defRPr sz="1800" b="0"/>
            </a:pPr>
            <a:r>
              <a:t>İlkeler: Metric‑gated hiring; her FTE için MRR/kullanım eşiği.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14) Türkiye Standartlarında Maliyet (Özet)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 b="0"/>
            </a:pPr>
            <a:r>
              <a:t>Maaş bantları (yıllık, USD baz; işveren yükü + yan hak ~%18 ek):</a:t>
            </a:r>
          </a:p>
          <a:p>
            <a:pPr lvl="1" algn="l">
              <a:defRPr sz="1800" b="0"/>
            </a:pPr>
            <a:r>
              <a:t>Backend: 48K–62K (orta: 55K)</a:t>
            </a:r>
          </a:p>
          <a:p>
            <a:pPr lvl="1" algn="l">
              <a:defRPr sz="1800" b="0"/>
            </a:pPr>
            <a:r>
              <a:t>Full‑stack: 42K–56K (orta: 48K)</a:t>
            </a:r>
          </a:p>
          <a:p>
            <a:pPr lvl="1" algn="l">
              <a:defRPr sz="1800" b="0"/>
            </a:pPr>
            <a:r>
              <a:t>Data/ML: 52K–68K (orta: 58K)</a:t>
            </a:r>
          </a:p>
          <a:p>
            <a:pPr lvl="1" algn="l">
              <a:defRPr sz="1800" b="0"/>
            </a:pPr>
            <a:r>
              <a:t>PM: 45K–60K (orta: 50K)</a:t>
            </a:r>
          </a:p>
          <a:p>
            <a:pPr lvl="1" algn="l">
              <a:defRPr sz="1800" b="0"/>
            </a:pPr>
            <a:r>
              <a:t>Growth: 40K–55K (orta: 45K)</a:t>
            </a:r>
          </a:p>
          <a:p>
            <a:pPr lvl="1" algn="l">
              <a:defRPr sz="1800" b="0"/>
            </a:pPr>
            <a:r>
              <a:t>SDR: 28K–38K (orta: 32K)</a:t>
            </a:r>
          </a:p>
          <a:p>
            <a:pPr lvl="1" algn="l">
              <a:defRPr sz="1800" b="0"/>
            </a:pPr>
            <a:r>
              <a:t>CSM: 30K–40K (orta: 34K)</a:t>
            </a:r>
          </a:p>
          <a:p>
            <a:pPr lvl="1" algn="l">
              <a:defRPr sz="1800" b="0"/>
            </a:pPr>
            <a:r>
              <a:t>Support L1: 16K–25K (orta: 20K)</a:t>
            </a:r>
          </a:p>
          <a:p>
            <a:pPr lvl="1" algn="l">
              <a:defRPr sz="1800" b="0"/>
            </a:pPr>
            <a:r>
              <a:t>Finance/Admin: 24K–34K (orta: 28K)</a:t>
            </a:r>
          </a:p>
          <a:p>
            <a:pPr lvl="1" algn="l">
              <a:defRPr sz="1800" b="0"/>
            </a:pPr>
            <a:r>
              <a:t>QA: 36K–50K (orta: 42K)</a:t>
            </a:r>
          </a:p>
          <a:p>
            <a:pPr algn="l">
              <a:defRPr sz="1800" b="0"/>
            </a:pPr>
            <a:r>
              <a:t>Y1 personel gideri (örnek): ≈ $272K; Y2: ≈ $691K. Kaynak: cost_hiring_plan.md.</a:t>
            </a:r>
          </a:p>
          <a:p>
            <a:pPr algn="l">
              <a:defRPr sz="1800" b="1"/>
            </a:pPr>
            <a:r>
              <a:t>14.1) İşverene/KOBİ’ye Katkılar (Örnek Etki Tahminleri)</a:t>
            </a:r>
          </a:p>
          <a:p>
            <a:pPr algn="l">
              <a:defRPr sz="1800" b="0"/>
            </a:pPr>
            <a:r>
              <a:t>Zaman tasarrufu: Finans/muhasebe tarafında haftalık 8–12 saat manuel mutabakat ve raporlama azaltımı (entegrasyon kapsamına bağlı).</a:t>
            </a:r>
          </a:p>
          <a:p>
            <a:pPr algn="l">
              <a:defRPr sz="1800" b="0"/>
            </a:pPr>
            <a:r>
              <a:t>Hata azaltımı: e‑belge/UBL‑TR şema doğrulama ve kural motoruyla belge hatalarını ve tutarsızlıkları anlamlı ölçüde düşürme.</a:t>
            </a:r>
          </a:p>
          <a:p>
            <a:pPr algn="l">
              <a:defRPr sz="1800" b="0"/>
            </a:pPr>
            <a:r>
              <a:t>Denetim hazırlığı: Audit‑ready log ve export’larla denetim öncesi hazırlık süresini kısaltma.</a:t>
            </a:r>
          </a:p>
          <a:p>
            <a:pPr algn="l">
              <a:defRPr sz="1800" b="0"/>
            </a:pPr>
            <a:r>
              <a:t>Nakit akışı farkındalığı: Proaktif uyarı ve kısa vadeli forecast ile operasyonel finans karar hızını artırma.</a:t>
            </a:r>
          </a:p>
          <a:p>
            <a:pPr algn="l">
              <a:defRPr sz="1800" b="0"/>
            </a:pPr>
            <a:r>
              <a:t>Eğitim ve adaptasyon: FinEd ve oyunlaştırma ile ekiplerin modüle daha hızlı adapte olması (aktivasyon oranlarına pozitif etki).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15) Yatırım Tutarı, Kullanımı ve Runway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 b="0"/>
            </a:pPr>
            <a:r>
              <a:t>Talep: Pre‑Seed $400K (opsiyon: $600K Extended).</a:t>
            </a:r>
          </a:p>
          <a:p>
            <a:pPr algn="l">
              <a:defRPr sz="1800" b="0"/>
            </a:pPr>
            <a:r>
              <a:t>Dağılım (400K): Ürün&amp;Müh. %38; Veri&amp;ML %10; GTM %25; Güvenlik %8; G&amp;A %9; Rezerv %10.</a:t>
            </a:r>
          </a:p>
          <a:p>
            <a:pPr algn="l">
              <a:defRPr sz="1800" b="0"/>
            </a:pPr>
            <a:r>
              <a:t>Runway: ~9 ay efektif (erken gelir katkısıyla uzar). Extended ile 11–12 ay + hızlanma.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16) Rekabet Matrisi (Özet)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 b="0"/>
            </a:pPr>
            <a:r>
              <a:t>FinAsis: Entegrasyon kapsamı geniş; UBL‑TR uyum opsiyonu; JSON rule→voucher; AI risk/forecast/öneri; audit+blockchain opsiyonu; hafif deployment.</a:t>
            </a:r>
          </a:p>
          <a:p>
            <a:pPr algn="l">
              <a:defRPr sz="1800" b="0"/>
            </a:pPr>
            <a:r>
              <a:t>ERP (Logo/Netsis/Mikro): güçlü ama ağır; sınırlı özel rule/AI; on‑prem bağımlılık.</a:t>
            </a:r>
          </a:p>
          <a:p>
            <a:pPr algn="l">
              <a:defRPr sz="1800" b="0"/>
            </a:pPr>
            <a:r>
              <a:t>SaaS (Paraşüt/Luca): hafif ve yerel; sınırlı otomasyon/AI; kapsam dar.</a:t>
            </a:r>
          </a:p>
          <a:p>
            <a:pPr algn="l">
              <a:defRPr sz="1800" b="0"/>
            </a:pPr>
            <a:r>
              <a:t>BI (Power BI/Metabase): görselleştirme fakat işlem katmanı yok.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17) Riskler ve Mitigasyon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 b="0"/>
            </a:pPr>
            <a:r>
              <a:t>Aktivasyon düşük → Setup wizard, CSM playbook, içerik revizyonu.</a:t>
            </a:r>
          </a:p>
          <a:p>
            <a:pPr algn="l">
              <a:defRPr sz="1800" b="0"/>
            </a:pPr>
            <a:r>
              <a:t>Churn yüksek → Health score, rule kullanımını artırma, segment bazlı paketler.</a:t>
            </a:r>
          </a:p>
          <a:p>
            <a:pPr algn="l">
              <a:defRPr sz="1800" b="0"/>
            </a:pPr>
            <a:r>
              <a:t>CAC yükselmesi → Paid rotasyonu, organik güçlendirme, partner kanalı.</a:t>
            </a:r>
          </a:p>
          <a:p>
            <a:pPr algn="l">
              <a:defRPr sz="1800" b="0"/>
            </a:pPr>
            <a:r>
              <a:t>Güvenlik olayı → Temel CIS kontrolleri, pen‑test takvimi, log &amp; SIEM.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18) İstekte Bulunduğumuz Destek (The Ask)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 b="0"/>
            </a:pPr>
            <a:r>
              <a:t>Çek: $400K → 24 ay yol haritası, NRR’ı %100+ eşiğine taşıma, 18–24. ayda seed‑ready metrik paketi: ARR ≥ $300K, NRR ≥ %108, Payback ≤ 8 ay, LTV/CAC ≥ 4x.</a:t>
            </a:r>
          </a:p>
          <a:p>
            <a:pPr algn="l">
              <a:defRPr sz="1800" b="0"/>
            </a:pPr>
            <a:r>
              <a:t>Katkı Beklentisi: Ürün‑pazar uyumu hızlandırmada rehberlik; partner/entegrasyon kapıları; GTM mimarisinde mentorluk.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19) Neden Biz?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 b="0"/>
            </a:pPr>
            <a:r>
              <a:t>“Görünürlük + Öngörü + Otomasyon” üçlüsünü yerel uyumluluk ve hafif kurulumla birleştiriyoruz.</a:t>
            </a:r>
          </a:p>
          <a:p>
            <a:pPr algn="l">
              <a:defRPr sz="1800" b="0"/>
            </a:pPr>
            <a:r>
              <a:t>Operasyonel aksiyon üreten katmanız (rule/AI) ile raporlamayı aşıyoruz; audit‑ready ve güvenlik odaklıyız.</a:t>
            </a:r>
          </a:p>
          <a:p>
            <a:pPr algn="l">
              <a:defRPr sz="1800" b="0"/>
            </a:pPr>
            <a:r>
              <a:t>Metrik disiplinli; sermaye verimi yüksek bir büyüme tezi ve net milestone planı.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20) Ekler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 b="0"/>
            </a:pPr>
            <a:r>
              <a:t>One‑Pager v2 (özet)</a:t>
            </a:r>
          </a:p>
          <a:p>
            <a:pPr algn="l">
              <a:defRPr sz="1800" b="0"/>
            </a:pPr>
            <a:r>
              <a:t>5Y Gelir Modeli, Birim Ekonomi &amp; KPI, Senaryo‑Duyarlılık, Maliyet &amp; İşe Alım Planı</a:t>
            </a:r>
          </a:p>
          <a:p>
            <a:pPr algn="l">
              <a:defRPr sz="1800" b="0"/>
            </a:pPr>
            <a:r>
              <a:t>Demo &amp; QA Rehberleri: demo_senaryosu.md, qa_validation_guide.md</a:t>
            </a:r>
          </a:p>
          <a:p>
            <a:pPr lvl="1" algn="l">
              <a:defRPr sz="1800" b="0"/>
            </a:pPr>
            <a:r>
              <a:t>---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21) Yatırım Koşulları (Örnek Çalışma)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 b="0"/>
            </a:pPr>
            <a:r>
              <a:t>Enstrüman: SAFE (Post‑Money) veya Hisse (eşdeğer şartlarla).</a:t>
            </a:r>
          </a:p>
          <a:p>
            <a:pPr algn="l">
              <a:defRPr sz="1800" b="0"/>
            </a:pPr>
            <a:r>
              <a:t>Değerleme Parametreleri (örnek): Cap $4.5–6.0M; İndirim %15–20; MFN/pro‑rata hakları.</a:t>
            </a:r>
          </a:p>
          <a:p>
            <a:pPr algn="l">
              <a:defRPr sz="1800" b="0"/>
            </a:pPr>
            <a:r>
              <a:t>Bilgi hakları: Aylık metrik update, üç aylık yönetici özeti, yıllık finansal özet; board observer opsiyonu.</a:t>
            </a:r>
          </a:p>
          <a:p>
            <a:pPr algn="l">
              <a:defRPr sz="1800" b="0"/>
            </a:pPr>
            <a:r>
              <a:t>Kullanım: Bölüm 15 “Use of Funds” ile uyumlu; metric‑gated işe alım ve kanal bütçeleri.</a:t>
            </a:r>
          </a:p>
          <a:p>
            <a:pPr lvl="1" algn="l">
              <a:defRPr sz="1800" b="0"/>
            </a:pPr>
            <a:r>
              <a:t>Not: Bu bölüm yatırımcıya göre kişiselleştirilir (cap/iskonto/yan haklar). Hukuki dokümantasyon tercih edilen aracı kurum/avukatlık bürosuyla yürütülür.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22) Yatırımcı Getiri Senaryoları (Örnek)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 b="0"/>
            </a:pPr>
            <a:r>
              <a:t>Baz (Y5 ARR ≈ $344K): Varsayımsal 6× ARR çarpanı → EV ≈ $2.1M. Seed öncesi köprü/seed ile ivme sonrası ölçek artışı hedeflenir.</a:t>
            </a:r>
          </a:p>
          <a:p>
            <a:pPr algn="l">
              <a:defRPr sz="1800" b="0"/>
            </a:pPr>
            <a:r>
              <a:t>İyimser (Y5 ARR ≈ $460K+): 6–8× ARR aralığı → EV ≈ $2.8–3.7M.</a:t>
            </a:r>
          </a:p>
          <a:p>
            <a:pPr algn="l">
              <a:defRPr sz="1800" b="0"/>
            </a:pPr>
            <a:r>
              <a:t>Ters rüzgar: ARR &lt; baz; sermaye verimliliği korunurken pivot tetikleri (GTM/ürün) uygulanır.</a:t>
            </a:r>
          </a:p>
          <a:p>
            <a:pPr lvl="1" algn="l">
              <a:defRPr sz="1800" b="0"/>
            </a:pPr>
            <a:r>
              <a:t>Aydınlatma: Bunlar model tabanlı, bağlam ve piyasa çarpanlarına duyarlı örneklerdir; kesin getiri garantisi değildir. Bölüm 11 ve “Scenario &amp; Sensitivity” dokümanı referanstır.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23) Yatırımcı SSS (Hızlı Yanıtlar)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 b="0"/>
            </a:pPr>
            <a:r>
              <a:t>PMF riski nasıl yönetiliyor? → Aktivasyon ve rule‑usage odaklı metrikler, kurucu‑led satış ve partner kanalı; 3 ayda bir roadmap/milestone revizyonu.</a:t>
            </a:r>
          </a:p>
          <a:p>
            <a:pPr algn="l">
              <a:defRPr sz="1800" b="0"/>
            </a:pPr>
            <a:r>
              <a:t>Entegrasyon hızı? → Öncelik matrisi, adapter/SDK yaklaşımı, 5→8 entegrasyon hedefi (0–3 ay), veri kalitesine göre kademeli yaygınlaştırma.</a:t>
            </a:r>
          </a:p>
          <a:p>
            <a:pPr algn="l">
              <a:defRPr sz="1800" b="0"/>
            </a:pPr>
            <a:r>
              <a:t>Güvenlik/uyum? → HMAC/IP doğrulama, audit log, temel CIS; pen‑test takvimi; opsiyonel blockchain izleri; veri yaşam döngüsü politikası.</a:t>
            </a:r>
          </a:p>
          <a:p>
            <a:pPr algn="l">
              <a:defRPr sz="1800" b="0"/>
            </a:pPr>
            <a:r>
              <a:t>Rekabet karşısında savunma? → Yerel uyumluluk derinliği (UBL‑TR/EDOC), rule→voucher otomasyon katmanı, AI öneri; hızlı aktivasyon ve düşük TCO.</a:t>
            </a:r>
          </a:p>
          <a:p>
            <a:pPr algn="l">
              <a:defRPr sz="1800" b="0"/>
            </a:pPr>
            <a:r>
              <a:t>Gelir büyümesi ve sermaye verimi? → NRR hedef eğrisi %90→%116; payback Y3 &lt; 9 ay; LTV/CAC Y5 ≥ 7.5x hedef; metric‑gated işe alım.</a:t>
            </a:r>
          </a:p>
          <a:p>
            <a:pPr lvl="1" algn="l">
              <a:defRPr sz="1800" b="0"/>
            </a:pPr>
            <a:r>
              <a:t>---</a:t>
            </a:r>
          </a:p>
          <a:p>
            <a:pPr lvl="1" algn="l">
              <a:defRPr sz="1800" b="0"/>
            </a:pPr>
            <a:r>
              <a:t>Not: Deck’i Google Slides/PowerPoint şablonuna aktarmak için her başlık bir slayt olacak şekilde bölümlendirilmiştir. İstersen, kurumsal şablonuna aktarılmış PPTX dosyasını da oluşturabilirim.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24) Misyon Odaklı Sonraki Adımlar (Future‑Forward)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 b="0"/>
            </a:pPr>
            <a:r>
              <a:t>Predictive → Prescriptive: Forecast ekranlarına “öneri motoru” (hangi maliyet kalemi, hangi tarihte, ne kadar optimize?) eklemek.</a:t>
            </a:r>
          </a:p>
          <a:p>
            <a:pPr algn="l">
              <a:defRPr sz="1800" b="0"/>
            </a:pPr>
            <a:r>
              <a:t>Rule‑as‑Strategy: Kural motorunu salt otomasyon değil, “strateji şablonları” (ör. nakit yastığı, vergi optimizasyonu, stok finansmanı) olarak paketlemek.</a:t>
            </a:r>
          </a:p>
          <a:p>
            <a:pPr algn="l">
              <a:defRPr sz="1800" b="0"/>
            </a:pPr>
            <a:r>
              <a:t>Proaktif Uyarılar: Risk skorları belirli eşiği aştığında otomatik öneri + tek tıkla uygulama (ör. limit güncelle, tahsilat tetikle, bütçe hareketi oluştur).</a:t>
            </a:r>
          </a:p>
          <a:p>
            <a:pPr algn="l">
              <a:defRPr sz="1800" b="0"/>
            </a:pPr>
            <a:r>
              <a:t>Wealth Playbooks: KOBİ segmentlerine göre “zenginlik inşa” oyun kitapları: büyüme, verim, dayanıklılık senaryoları (ölçülebilir KPI hedefleriyle).</a:t>
            </a:r>
          </a:p>
          <a:p>
            <a:pPr algn="l">
              <a:defRPr sz="1800" b="0"/>
            </a:pPr>
            <a:r>
              <a:t>Decision UX: Yönetim ekranlarında “Ne yapmalıyım?” sorusunu yanıtlayan etkileşimli kartlar (etki tahmini, risk/belirsizlik bandı ile).</a:t>
            </a:r>
          </a:p>
          <a:p>
            <a:pPr algn="l">
              <a:defRPr sz="1800" b="0"/>
            </a:pPr>
            <a:r>
              <a:t>Partner Ekosistemi: Banka/finansman/ödeme iş ortaklarıyla öneri → aksiyon zincirinin uçtan uca kapanması.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